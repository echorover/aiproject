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Machine Learning Algorithms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Comprehensive Analysis on Energy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Evan Tobias</a:t>
            </a:r>
          </a:p>
          <a:p>
            <a:r>
              <a:t>AI Final Year Project</a:t>
            </a:r>
          </a:p>
          <a:p>
            <a:r>
              <a:t>December 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📋 Introduction &amp; Project Overview</a:t>
            </a:r>
          </a:p>
          <a:p>
            <a:pPr>
              <a:spcAft>
                <a:spcPts val="1000"/>
              </a:spcAft>
              <a:defRPr sz="1800"/>
            </a:pPr>
            <a:r>
              <a:t>📊 Datasets Description</a:t>
            </a:r>
          </a:p>
          <a:p>
            <a:pPr>
              <a:spcAft>
                <a:spcPts val="1000"/>
              </a:spcAft>
              <a:defRPr sz="1800"/>
            </a:pPr>
            <a:r>
              <a:t>🔧 Methodology &amp; Preprocessing</a:t>
            </a:r>
          </a:p>
          <a:p>
            <a:pPr>
              <a:spcAft>
                <a:spcPts val="1000"/>
              </a:spcAft>
              <a:defRPr sz="1800"/>
            </a:pPr>
            <a:r>
              <a:t>🤖 Regression Algorithms (5 models)</a:t>
            </a:r>
          </a:p>
          <a:p>
            <a:pPr>
              <a:spcAft>
                <a:spcPts val="1000"/>
              </a:spcAft>
              <a:defRPr sz="1800"/>
            </a:pPr>
            <a:r>
              <a:t>🎯 Classification with Logistic Regression</a:t>
            </a:r>
          </a:p>
          <a:p>
            <a:pPr>
              <a:spcAft>
                <a:spcPts val="1000"/>
              </a:spcAft>
              <a:defRPr sz="1800"/>
            </a:pPr>
            <a:r>
              <a:t>🔍 Clustering with K-means</a:t>
            </a:r>
          </a:p>
          <a:p>
            <a:pPr>
              <a:spcAft>
                <a:spcPts val="1000"/>
              </a:spcAft>
              <a:defRPr sz="1800"/>
            </a:pPr>
            <a:r>
              <a:t>📈 Results &amp; Performance Comparison</a:t>
            </a:r>
          </a:p>
          <a:p>
            <a:pPr>
              <a:spcAft>
                <a:spcPts val="1000"/>
              </a:spcAft>
              <a:defRPr sz="1800"/>
            </a:pPr>
            <a:r>
              <a:t>💡 Key Findings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🎯 Objective: Demonstrate 7 ML algorithms on real-world data</a:t>
            </a:r>
          </a:p>
          <a:p>
            <a:pPr>
              <a:spcAft>
                <a:spcPts val="1000"/>
              </a:spcAft>
              <a:defRPr sz="1800"/>
            </a:pPr>
            <a:r>
              <a:t>📚 Algorithms Implemented:</a:t>
            </a:r>
          </a:p>
          <a:p>
            <a:pPr>
              <a:spcAft>
                <a:spcPts val="1000"/>
              </a:spcAft>
              <a:defRPr sz="1800"/>
            </a:pPr>
            <a:r>
              <a:t>   • Linear &amp; Polynomial Regression</a:t>
            </a:r>
          </a:p>
          <a:p>
            <a:pPr>
              <a:spcAft>
                <a:spcPts val="1000"/>
              </a:spcAft>
              <a:defRPr sz="1800"/>
            </a:pPr>
            <a:r>
              <a:t>   • Decision Trees &amp; Random Forest</a:t>
            </a:r>
          </a:p>
          <a:p>
            <a:pPr>
              <a:spcAft>
                <a:spcPts val="1000"/>
              </a:spcAft>
              <a:defRPr sz="1800"/>
            </a:pPr>
            <a:r>
              <a:t>   • Neural Networks (PyTorch)</a:t>
            </a:r>
          </a:p>
          <a:p>
            <a:pPr>
              <a:spcAft>
                <a:spcPts val="1000"/>
              </a:spcAft>
              <a:defRPr sz="1800"/>
            </a:pPr>
            <a:r>
              <a:t>   • Logistic Regression (Classification)</a:t>
            </a:r>
          </a:p>
          <a:p>
            <a:pPr>
              <a:spcAft>
                <a:spcPts val="1000"/>
              </a:spcAft>
              <a:defRPr sz="1800"/>
            </a:pPr>
            <a:r>
              <a:t>   • K-means Clustering</a:t>
            </a:r>
          </a:p>
          <a:p>
            <a:pPr>
              <a:spcAft>
                <a:spcPts val="1000"/>
              </a:spcAft>
              <a:defRPr sz="1800"/>
            </a:pPr>
            <a:r>
              <a:t>🔬 Two Energy Datasets: ENB2012 &amp; Energy Consumption</a:t>
            </a:r>
          </a:p>
          <a:p>
            <a:pPr>
              <a:spcAft>
                <a:spcPts val="1000"/>
              </a:spcAft>
              <a:defRPr sz="1800"/>
            </a:pPr>
            <a:r>
              <a:t>📊 768 &amp; 19,735 samples respectively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Datasets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ENB2012 Dataset</a:t>
            </a:r>
          </a:p>
          <a:p>
            <a:pPr>
              <a:spcAft>
                <a:spcPts val="800"/>
              </a:spcAft>
              <a:defRPr sz="1600"/>
            </a:pPr>
            <a:r>
              <a:t>• 768 samples</a:t>
            </a:r>
          </a:p>
          <a:p>
            <a:pPr>
              <a:spcAft>
                <a:spcPts val="800"/>
              </a:spcAft>
              <a:defRPr sz="1600"/>
            </a:pPr>
            <a:r>
              <a:t>• 8 features (building design)</a:t>
            </a:r>
          </a:p>
          <a:p>
            <a:pPr>
              <a:spcAft>
                <a:spcPts val="800"/>
              </a:spcAft>
              <a:defRPr sz="1600"/>
            </a:pPr>
            <a:r>
              <a:t>• Target: Heating/Cooling Load</a:t>
            </a:r>
          </a:p>
          <a:p>
            <a:pPr>
              <a:spcAft>
                <a:spcPts val="800"/>
              </a:spcAft>
              <a:defRPr sz="1600"/>
            </a:pPr>
            <a:r>
              <a:t>• Use: Regression analysis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Features:</a:t>
            </a:r>
          </a:p>
          <a:p>
            <a:pPr>
              <a:spcAft>
                <a:spcPts val="800"/>
              </a:spcAft>
              <a:defRPr sz="1600"/>
            </a:pPr>
            <a:r>
              <a:t>• Relative Compactness</a:t>
            </a:r>
          </a:p>
          <a:p>
            <a:pPr>
              <a:spcAft>
                <a:spcPts val="800"/>
              </a:spcAft>
              <a:defRPr sz="1600"/>
            </a:pPr>
            <a:r>
              <a:t>• Surface &amp; Wall Area</a:t>
            </a:r>
          </a:p>
          <a:p>
            <a:pPr>
              <a:spcAft>
                <a:spcPts val="800"/>
              </a:spcAft>
              <a:defRPr sz="1600"/>
            </a:pPr>
            <a:r>
              <a:t>• Overall Height</a:t>
            </a:r>
          </a:p>
          <a:p>
            <a:pPr>
              <a:spcAft>
                <a:spcPts val="800"/>
              </a:spcAft>
              <a:defRPr sz="1600"/>
            </a:pPr>
            <a:r>
              <a:t>• Glazing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Energy Consumption Dataset</a:t>
            </a:r>
          </a:p>
          <a:p>
            <a:pPr>
              <a:spcAft>
                <a:spcPts val="800"/>
              </a:spcAft>
              <a:defRPr sz="1600"/>
            </a:pPr>
            <a:r>
              <a:t>• 19,735 samples</a:t>
            </a:r>
          </a:p>
          <a:p>
            <a:pPr>
              <a:spcAft>
                <a:spcPts val="800"/>
              </a:spcAft>
              <a:defRPr sz="1600"/>
            </a:pPr>
            <a:r>
              <a:t>• 28 features (sensors)</a:t>
            </a:r>
          </a:p>
          <a:p>
            <a:pPr>
              <a:spcAft>
                <a:spcPts val="800"/>
              </a:spcAft>
              <a:defRPr sz="1600"/>
            </a:pPr>
            <a:r>
              <a:t>• Target: Appliances energy</a:t>
            </a:r>
          </a:p>
          <a:p>
            <a:pPr>
              <a:spcAft>
                <a:spcPts val="800"/>
              </a:spcAft>
              <a:defRPr sz="1600"/>
            </a:pPr>
            <a:r>
              <a:t>• Use: Classification &amp; Clustering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Features:</a:t>
            </a:r>
          </a:p>
          <a:p>
            <a:pPr>
              <a:spcAft>
                <a:spcPts val="800"/>
              </a:spcAft>
              <a:defRPr sz="1600"/>
            </a:pPr>
            <a:r>
              <a:t>• Temperature (multiple rooms)</a:t>
            </a:r>
          </a:p>
          <a:p>
            <a:pPr>
              <a:spcAft>
                <a:spcPts val="800"/>
              </a:spcAft>
              <a:defRPr sz="1600"/>
            </a:pPr>
            <a:r>
              <a:t>• Humidity (multiple rooms)</a:t>
            </a:r>
          </a:p>
          <a:p>
            <a:pPr>
              <a:spcAft>
                <a:spcPts val="800"/>
              </a:spcAft>
              <a:defRPr sz="1600"/>
            </a:pPr>
            <a:r>
              <a:t>• Pressure, Wind Speed</a:t>
            </a:r>
          </a:p>
          <a:p>
            <a:pPr>
              <a:spcAft>
                <a:spcPts val="800"/>
              </a:spcAft>
              <a:defRPr sz="1600"/>
            </a:pPr>
            <a:r>
              <a:t>• Energy consumption (Wh)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Correlation Analysis</a:t>
            </a:r>
          </a:p>
        </p:txBody>
      </p:sp>
      <p:pic>
        <p:nvPicPr>
          <p:cNvPr id="3" name="Picture 2" descr="01_correla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765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Methodology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🧹 Data Cleaning: No missing values, no duplicates</a:t>
            </a:r>
          </a:p>
          <a:p>
            <a:pPr>
              <a:spcAft>
                <a:spcPts val="1000"/>
              </a:spcAft>
              <a:defRPr sz="1800"/>
            </a:pPr>
            <a:r>
              <a:t>📏 Feature Scaling: Z-score normalization (μ=0, σ=1)</a:t>
            </a:r>
          </a:p>
          <a:p>
            <a:pPr>
              <a:spcAft>
                <a:spcPts val="1000"/>
              </a:spcAft>
              <a:defRPr sz="1800"/>
            </a:pPr>
            <a:r>
              <a:t>🔍 Multicollinearity Check: VIF analysis</a:t>
            </a:r>
          </a:p>
          <a:p>
            <a:pPr>
              <a:spcAft>
                <a:spcPts val="1000"/>
              </a:spcAft>
              <a:defRPr sz="1800"/>
            </a:pPr>
            <a:r>
              <a:t>✂️ Train-Test Split: 80/20 ratio, stratified for classification</a:t>
            </a:r>
          </a:p>
          <a:p>
            <a:pPr>
              <a:spcAft>
                <a:spcPts val="1000"/>
              </a:spcAft>
              <a:defRPr sz="1800"/>
            </a:pPr>
            <a:r>
              <a:t>🎯 Feature Engineering: Binary target for classification</a:t>
            </a:r>
          </a:p>
          <a:p>
            <a:pPr>
              <a:spcAft>
                <a:spcPts val="1000"/>
              </a:spcAft>
              <a:defRPr sz="1800"/>
            </a:pPr>
            <a:r>
              <a:t>🔧 Tools: scikit-learn, PyTorch, pandas, numpy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📐 Formula: ŷ = β₀ + β₁x₁ + β₂x₂ + ... + βₙxₙ</a:t>
            </a:r>
          </a:p>
          <a:p>
            <a:pPr>
              <a:spcAft>
                <a:spcPts val="1000"/>
              </a:spcAft>
              <a:defRPr sz="1800"/>
            </a:pPr>
            <a:r>
              <a:t>🎯 Method: Ordinary Least Squares (OLS)</a:t>
            </a:r>
          </a:p>
          <a:p>
            <a:pPr>
              <a:spcAft>
                <a:spcPts val="1000"/>
              </a:spcAft>
              <a:defRPr sz="1800"/>
            </a:pPr>
            <a:r>
              <a:t>📊 Loss Function: Mean Squared Error (MSE)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✅ Results:</a:t>
            </a:r>
          </a:p>
          <a:p>
            <a:pPr>
              <a:spcAft>
                <a:spcPts val="1000"/>
              </a:spcAft>
              <a:defRPr sz="1800"/>
            </a:pPr>
            <a:r>
              <a:t>   • R² Score: 0.9122 (91.22% variance explained)</a:t>
            </a:r>
          </a:p>
          <a:p>
            <a:pPr>
              <a:spcAft>
                <a:spcPts val="1000"/>
              </a:spcAft>
              <a:defRPr sz="1800"/>
            </a:pPr>
            <a:r>
              <a:t>   • RMSE: 3.0254</a:t>
            </a:r>
          </a:p>
          <a:p>
            <a:pPr>
              <a:spcAft>
                <a:spcPts val="1000"/>
              </a:spcAft>
              <a:defRPr sz="1800"/>
            </a:pPr>
            <a:r>
              <a:t>   • MAE: 2.1821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Strong baseline performance with linear relationships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Polynomial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📐 Extends linear regression with polynomial terms (degree=2)</a:t>
            </a:r>
          </a:p>
          <a:p>
            <a:pPr>
              <a:spcAft>
                <a:spcPts val="1000"/>
              </a:spcAft>
              <a:defRPr sz="1800"/>
            </a:pPr>
            <a:r>
              <a:t>🔧 Includes interaction terms: x₁x₂, x₁², x₂²</a:t>
            </a:r>
          </a:p>
          <a:p>
            <a:pPr>
              <a:spcAft>
                <a:spcPts val="1000"/>
              </a:spcAft>
              <a:defRPr sz="1800"/>
            </a:pPr>
            <a:r>
              <a:t>🎯 Captures non-linear relationships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✅ Results:</a:t>
            </a:r>
          </a:p>
          <a:p>
            <a:pPr>
              <a:spcAft>
                <a:spcPts val="1000"/>
              </a:spcAft>
              <a:defRPr sz="1800"/>
            </a:pPr>
            <a:r>
              <a:t>   • R² Score: 0.9938 (99.38% variance explained) 🌟</a:t>
            </a:r>
          </a:p>
          <a:p>
            <a:pPr>
              <a:spcAft>
                <a:spcPts val="1000"/>
              </a:spcAft>
              <a:defRPr sz="1800"/>
            </a:pPr>
            <a:r>
              <a:t>   • RMSE: 0.8030</a:t>
            </a:r>
          </a:p>
          <a:p>
            <a:pPr>
              <a:spcAft>
                <a:spcPts val="1000"/>
              </a:spcAft>
              <a:defRPr sz="1800"/>
            </a:pPr>
            <a:r>
              <a:t>   • MAE: 0.6042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Excellent performance, captures complex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Decision Tree &amp;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🌳 Decision Tree</a:t>
            </a:r>
          </a:p>
          <a:p>
            <a:pPr>
              <a:spcAft>
                <a:spcPts val="800"/>
              </a:spcAft>
              <a:defRPr sz="1600"/>
            </a:pPr>
            <a:r>
              <a:t>• Recursive partitioning</a:t>
            </a:r>
          </a:p>
          <a:p>
            <a:pPr>
              <a:spcAft>
                <a:spcPts val="800"/>
              </a:spcAft>
              <a:defRPr sz="1600"/>
            </a:pPr>
            <a:r>
              <a:t>• Non-parametric</a:t>
            </a:r>
          </a:p>
          <a:p>
            <a:pPr>
              <a:spcAft>
                <a:spcPts val="800"/>
              </a:spcAft>
              <a:defRPr sz="1600"/>
            </a:pPr>
            <a:r>
              <a:t>• Interpretable splits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Results:</a:t>
            </a:r>
          </a:p>
          <a:p>
            <a:pPr>
              <a:spcAft>
                <a:spcPts val="800"/>
              </a:spcAft>
              <a:defRPr sz="1600"/>
            </a:pPr>
            <a:r>
              <a:t>• R²: 0.9883</a:t>
            </a:r>
          </a:p>
          <a:p>
            <a:pPr>
              <a:spcAft>
                <a:spcPts val="800"/>
              </a:spcAft>
              <a:defRPr sz="1600"/>
            </a:pPr>
            <a:r>
              <a:t>• RMSE: 1.1059</a:t>
            </a:r>
          </a:p>
          <a:p>
            <a:pPr>
              <a:spcAft>
                <a:spcPts val="800"/>
              </a:spcAft>
              <a:defRPr sz="1600"/>
            </a:pPr>
            <a:r>
              <a:t>• MAE: 0.7561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Top Feature:</a:t>
            </a:r>
          </a:p>
          <a:p>
            <a:pPr>
              <a:spcAft>
                <a:spcPts val="800"/>
              </a:spcAft>
              <a:defRPr sz="1600"/>
            </a:pPr>
            <a:r>
              <a:t>Overall Height (58%)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🌲 Random Forest</a:t>
            </a:r>
          </a:p>
          <a:p>
            <a:pPr>
              <a:spcAft>
                <a:spcPts val="800"/>
              </a:spcAft>
              <a:defRPr sz="1600"/>
            </a:pPr>
            <a:r>
              <a:t>• Ensemble of 100 trees</a:t>
            </a:r>
          </a:p>
          <a:p>
            <a:pPr>
              <a:spcAft>
                <a:spcPts val="800"/>
              </a:spcAft>
              <a:defRPr sz="1600"/>
            </a:pPr>
            <a:r>
              <a:t>• Bootstrap + Feature bagging</a:t>
            </a:r>
          </a:p>
          <a:p>
            <a:pPr>
              <a:spcAft>
                <a:spcPts val="800"/>
              </a:spcAft>
              <a:defRPr sz="1600"/>
            </a:pPr>
            <a:r>
              <a:t>• Robust to overfitting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Results:</a:t>
            </a:r>
          </a:p>
          <a:p>
            <a:pPr>
              <a:spcAft>
                <a:spcPts val="800"/>
              </a:spcAft>
              <a:defRPr sz="1600"/>
            </a:pPr>
            <a:r>
              <a:t>• R²: 0.9976 🏆 BEST!</a:t>
            </a:r>
          </a:p>
          <a:p>
            <a:pPr>
              <a:spcAft>
                <a:spcPts val="800"/>
              </a:spcAft>
              <a:defRPr sz="1600"/>
            </a:pPr>
            <a:r>
              <a:t>• RMSE: 0.4978</a:t>
            </a:r>
          </a:p>
          <a:p>
            <a:pPr>
              <a:spcAft>
                <a:spcPts val="800"/>
              </a:spcAft>
              <a:defRPr sz="1600"/>
            </a:pPr>
            <a:r>
              <a:t>• MAE: 0.3584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Near-perfect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Feature Importance Analysis</a:t>
            </a:r>
          </a:p>
        </p:txBody>
      </p:sp>
      <p:pic>
        <p:nvPicPr>
          <p:cNvPr id="3" name="Picture 2" descr="0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65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Neural Network (PyTorch)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🧠 Architecture: 8 → 64 → 32 → 16 → 1</a:t>
            </a:r>
          </a:p>
          <a:p>
            <a:pPr>
              <a:spcAft>
                <a:spcPts val="1000"/>
              </a:spcAft>
              <a:defRPr sz="1800"/>
            </a:pPr>
            <a:r>
              <a:t>⚡ Activation: ReLU for hidden layers</a:t>
            </a:r>
          </a:p>
          <a:p>
            <a:pPr>
              <a:spcAft>
                <a:spcPts val="1000"/>
              </a:spcAft>
              <a:defRPr sz="1800"/>
            </a:pPr>
            <a:r>
              <a:t>🎯 Total Parameters: 3,201</a:t>
            </a:r>
          </a:p>
          <a:p>
            <a:pPr>
              <a:spcAft>
                <a:spcPts val="1000"/>
              </a:spcAft>
              <a:defRPr sz="1800"/>
            </a:pPr>
            <a:r>
              <a:t>🔧 Optimizer: Adam (lr=0.001)</a:t>
            </a:r>
          </a:p>
          <a:p>
            <a:pPr>
              <a:spcAft>
                <a:spcPts val="1000"/>
              </a:spcAft>
              <a:defRPr sz="1800"/>
            </a:pPr>
            <a:r>
              <a:t>📈 Training: 200 epochs, MSE Loss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✅ Results:</a:t>
            </a:r>
          </a:p>
          <a:p>
            <a:pPr>
              <a:spcAft>
                <a:spcPts val="1000"/>
              </a:spcAft>
              <a:defRPr sz="1800"/>
            </a:pPr>
            <a:r>
              <a:t>   • R² Score: 0.9683 (96.83%)</a:t>
            </a:r>
          </a:p>
          <a:p>
            <a:pPr>
              <a:spcAft>
                <a:spcPts val="1000"/>
              </a:spcAft>
              <a:defRPr sz="1800"/>
            </a:pPr>
            <a:r>
              <a:t>   • RMSE: 1.8186</a:t>
            </a:r>
          </a:p>
          <a:p>
            <a:pPr>
              <a:spcAft>
                <a:spcPts val="1000"/>
              </a:spcAft>
              <a:defRPr sz="1800"/>
            </a:pPr>
            <a:r>
              <a:t>   • MAE: 1.3031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Strong performance, demonstrates backpropagation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Neural Network Architecture</a:t>
            </a:r>
          </a:p>
        </p:txBody>
      </p:sp>
      <p:pic>
        <p:nvPicPr>
          <p:cNvPr id="3" name="Picture 2" descr="04_neural_networ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8393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Regression Models Comparison</a:t>
            </a:r>
          </a:p>
        </p:txBody>
      </p:sp>
      <p:pic>
        <p:nvPicPr>
          <p:cNvPr id="3" name="Picture 2" descr="02_regres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289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Comprehensive Metrics Comparison</a:t>
            </a:r>
          </a:p>
        </p:txBody>
      </p:sp>
      <p:pic>
        <p:nvPicPr>
          <p:cNvPr id="3" name="Picture 2" descr="03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2563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Logistic Regression -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🎯 Task: Classify energy consumption (Low vs High)</a:t>
            </a:r>
          </a:p>
          <a:p>
            <a:pPr>
              <a:spcAft>
                <a:spcPts val="1000"/>
              </a:spcAft>
              <a:defRPr sz="1800"/>
            </a:pPr>
            <a:r>
              <a:t>📐 Method: Sigmoid function for probability</a:t>
            </a:r>
          </a:p>
          <a:p>
            <a:pPr>
              <a:spcAft>
                <a:spcPts val="1000"/>
              </a:spcAft>
              <a:defRPr sz="1800"/>
            </a:pPr>
            <a:r>
              <a:t>🔧 Binary threshold at median consumption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✅ Results:</a:t>
            </a:r>
          </a:p>
          <a:p>
            <a:pPr>
              <a:spcAft>
                <a:spcPts val="1000"/>
              </a:spcAft>
              <a:defRPr sz="1800"/>
            </a:pPr>
            <a:r>
              <a:t>   • Accuracy: 75.65%</a:t>
            </a:r>
          </a:p>
          <a:p>
            <a:pPr>
              <a:spcAft>
                <a:spcPts val="1000"/>
              </a:spcAft>
              <a:defRPr sz="1800"/>
            </a:pPr>
            <a:r>
              <a:t>   • Precision: 73.69%</a:t>
            </a:r>
          </a:p>
          <a:p>
            <a:pPr>
              <a:spcAft>
                <a:spcPts val="1000"/>
              </a:spcAft>
              <a:defRPr sz="1800"/>
            </a:pPr>
            <a:r>
              <a:t>   • Recall: 80.21%</a:t>
            </a:r>
          </a:p>
          <a:p>
            <a:pPr>
              <a:spcAft>
                <a:spcPts val="1000"/>
              </a:spcAft>
              <a:defRPr sz="1800"/>
            </a:pPr>
            <a:r>
              <a:t>   • F1-Score: 76.81%</a:t>
            </a:r>
          </a:p>
          <a:p>
            <a:pPr>
              <a:spcAft>
                <a:spcPts val="1000"/>
              </a:spcAft>
              <a:defRPr sz="1800"/>
            </a:pPr>
            <a:r>
              <a:t>   • AUC-ROC: 0.8329 🌟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Good discriminative ability, high recall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Classification Performance</a:t>
            </a:r>
          </a:p>
        </p:txBody>
      </p:sp>
      <p:pic>
        <p:nvPicPr>
          <p:cNvPr id="3" name="Picture 2" descr="0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578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ROC Curve Analysis</a:t>
            </a:r>
          </a:p>
        </p:txBody>
      </p:sp>
      <p:pic>
        <p:nvPicPr>
          <p:cNvPr id="3" name="Picture 2" descr="07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8398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🔍 Task: Discover consumption patterns</a:t>
            </a:r>
          </a:p>
          <a:p>
            <a:pPr>
              <a:spcAft>
                <a:spcPts val="1000"/>
              </a:spcAft>
              <a:defRPr sz="1800"/>
            </a:pPr>
            <a:r>
              <a:t>🎯 Method: Partition data into k clusters</a:t>
            </a:r>
          </a:p>
          <a:p>
            <a:pPr>
              <a:spcAft>
                <a:spcPts val="1000"/>
              </a:spcAft>
              <a:defRPr sz="1800"/>
            </a:pPr>
            <a:r>
              <a:t>📊 Optimal k Selection: Elbow + Silhouette methods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✅ Results:</a:t>
            </a:r>
          </a:p>
          <a:p>
            <a:pPr>
              <a:spcAft>
                <a:spcPts val="1000"/>
              </a:spcAft>
              <a:defRPr sz="1800"/>
            </a:pPr>
            <a:r>
              <a:t>   • Optimal k: 2 clusters</a:t>
            </a:r>
          </a:p>
          <a:p>
            <a:pPr>
              <a:spcAft>
                <a:spcPts val="1000"/>
              </a:spcAft>
              <a:defRPr sz="1800"/>
            </a:pPr>
            <a:r>
              <a:t>   • Silhouette Score: 0.22</a:t>
            </a:r>
          </a:p>
          <a:p>
            <a:pPr>
              <a:spcAft>
                <a:spcPts val="1000"/>
              </a:spcAft>
              <a:defRPr sz="1800"/>
            </a:pPr>
            <a:r>
              <a:t>   • Cluster 0: 9,894 samples (Low usage: 41 Wh)</a:t>
            </a:r>
          </a:p>
          <a:p>
            <a:pPr>
              <a:spcAft>
                <a:spcPts val="1000"/>
              </a:spcAft>
              <a:defRPr sz="1800"/>
            </a:pPr>
            <a:r>
              <a:t>   • Cluster 1: 9,841 samples (High usage: 105 Wh)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Clear separation between usage patterns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Clustering Analysis: Elbow &amp; Silhouette</a:t>
            </a:r>
          </a:p>
        </p:txBody>
      </p:sp>
      <p:pic>
        <p:nvPicPr>
          <p:cNvPr id="3" name="Picture 2" descr="08_cluster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5811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All Algorithms Performance Summary</a:t>
            </a:r>
          </a:p>
        </p:txBody>
      </p:sp>
      <p:pic>
        <p:nvPicPr>
          <p:cNvPr id="3" name="Picture 2" descr="10_overal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57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🏆 Best Regression: Random Forest (R² = 0.9976)</a:t>
            </a:r>
          </a:p>
          <a:p>
            <a:pPr>
              <a:spcAft>
                <a:spcPts val="1000"/>
              </a:spcAft>
              <a:defRPr sz="1800"/>
            </a:pPr>
            <a:r>
              <a:t>🧠 Neural Network: Excellent performance (R² = 0.9683)</a:t>
            </a:r>
          </a:p>
          <a:p>
            <a:pPr>
              <a:spcAft>
                <a:spcPts val="1000"/>
              </a:spcAft>
              <a:defRPr sz="1800"/>
            </a:pPr>
            <a:r>
              <a:t>🎯 Classification: Strong results (75.65% accuracy, AUC = 0.83)</a:t>
            </a:r>
          </a:p>
          <a:p>
            <a:pPr>
              <a:spcAft>
                <a:spcPts val="1000"/>
              </a:spcAft>
              <a:defRPr sz="1800"/>
            </a:pPr>
            <a:r>
              <a:t>🔍 Clustering: Identified 2 clear consumption patterns</a:t>
            </a:r>
          </a:p>
          <a:p>
            <a:pPr>
              <a:spcAft>
                <a:spcPts val="1000"/>
              </a:spcAft>
              <a:defRPr sz="1800"/>
            </a:pPr>
            <a:r>
              <a:t>📊 All models achieved &gt;91% R² for regression</a:t>
            </a:r>
          </a:p>
          <a:p>
            <a:pPr>
              <a:spcAft>
                <a:spcPts val="1000"/>
              </a:spcAft>
              <a:defRPr sz="1800"/>
            </a:pPr>
            <a:r>
              <a:t>💡 Ensemble methods (Random Forest) excel</a:t>
            </a:r>
          </a:p>
          <a:p>
            <a:pPr>
              <a:spcAft>
                <a:spcPts val="1000"/>
              </a:spcAft>
              <a:defRPr sz="1800"/>
            </a:pPr>
            <a:r>
              <a:t>⚡ Deep learning competitive with proper tuning</a:t>
            </a:r>
          </a:p>
          <a:p>
            <a:pPr>
              <a:spcAft>
                <a:spcPts val="1000"/>
              </a:spcAft>
              <a:defRPr sz="1800"/>
            </a:pPr>
            <a:r>
              <a:t>🔧 Feature importance: Overall Height most critical (58%)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✅ Successfully implemented 7 ML algorithms</a:t>
            </a:r>
          </a:p>
          <a:p>
            <a:pPr>
              <a:spcAft>
                <a:spcPts val="1000"/>
              </a:spcAft>
              <a:defRPr sz="1800"/>
            </a:pPr>
            <a:r>
              <a:t>✅ Comprehensive evaluation across multiple metrics</a:t>
            </a:r>
          </a:p>
          <a:p>
            <a:pPr>
              <a:spcAft>
                <a:spcPts val="1000"/>
              </a:spcAft>
              <a:defRPr sz="1800"/>
            </a:pPr>
            <a:r>
              <a:t>✅ Real-world energy datasets with practical insights</a:t>
            </a:r>
          </a:p>
          <a:p>
            <a:pPr>
              <a:spcAft>
                <a:spcPts val="1000"/>
              </a:spcAft>
              <a:defRPr sz="1800"/>
            </a:pPr>
            <a:r>
              <a:t>✅ Demonstrated supervised &amp; unsupervised learning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🔮 Future Work:</a:t>
            </a:r>
          </a:p>
          <a:p>
            <a:pPr>
              <a:spcAft>
                <a:spcPts val="1000"/>
              </a:spcAft>
              <a:defRPr sz="1800"/>
            </a:pPr>
            <a:r>
              <a:t>   • LSTM/GRU for time-series forecasting</a:t>
            </a:r>
          </a:p>
          <a:p>
            <a:pPr>
              <a:spcAft>
                <a:spcPts val="1000"/>
              </a:spcAft>
              <a:defRPr sz="1800"/>
            </a:pPr>
            <a:r>
              <a:t>   • Hyperparameter optimization (Grid/Bayesian search)</a:t>
            </a:r>
          </a:p>
          <a:p>
            <a:pPr>
              <a:spcAft>
                <a:spcPts val="1000"/>
              </a:spcAft>
              <a:defRPr sz="1800"/>
            </a:pPr>
            <a:r>
              <a:t>   • Ensemble stacking for improved performance</a:t>
            </a:r>
          </a:p>
          <a:p>
            <a:pPr>
              <a:spcAft>
                <a:spcPts val="1000"/>
              </a:spcAft>
              <a:defRPr sz="1800"/>
            </a:pPr>
            <a:r>
              <a:t>   • Real-time deployment as web service</a:t>
            </a:r>
          </a:p>
          <a:p>
            <a:pPr>
              <a:spcAft>
                <a:spcPts val="1000"/>
              </a:spcAft>
              <a:defRPr sz="1800"/>
            </a:pPr>
            <a:r>
              <a:t>   • Explainable AI (SHAP/LIME) for interpretability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Thank You!</a:t>
            </a:r>
          </a:p>
          <a:p/>
          <a:p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Evan Tobias | AI Final Year Project |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